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5B6EE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Title tier</c:v>
                </c:pt>
                <c:pt idx="1">
                  <c:v>Must-have
skills</c:v>
                </c:pt>
                <c:pt idx="2">
                  <c:v>Semantic
similarity</c:v>
                </c:pt>
                <c:pt idx="3">
                  <c:v>Experience
band</c:v>
                </c:pt>
                <c:pt idx="4">
                  <c:v>Location</c:v>
                </c:pt>
                <c:pt idx="5">
                  <c:v>Notice
period</c:v>
                </c:pt>
                <c:pt idx="6">
                  <c:v>Education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0.28000000000000003</c:v>
                </c:pt>
                <c:pt idx="1">
                  <c:v>0.25</c:v>
                </c:pt>
                <c:pt idx="2">
                  <c:v>0.22</c:v>
                </c:pt>
                <c:pt idx="3">
                  <c:v>0.1</c:v>
                </c:pt>
                <c:pt idx="4">
                  <c:v>0.09</c:v>
                </c:pt>
                <c:pt idx="5">
                  <c:v>0.03</c:v>
                </c:pt>
                <c:pt idx="6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A8-49FA-8A57-6D35F92AAD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5B6EE8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ML Engineer</c:v>
                </c:pt>
                <c:pt idx="1">
                  <c:v>Applied ML
Engineer</c:v>
                </c:pt>
                <c:pt idx="2">
                  <c:v>Recomm.
Systems Eng.</c:v>
                </c:pt>
                <c:pt idx="3">
                  <c:v>AI Engineer</c:v>
                </c:pt>
                <c:pt idx="4">
                  <c:v>Senior Data
Scientist</c:v>
                </c:pt>
                <c:pt idx="5">
                  <c:v>Search
Engineer</c:v>
                </c:pt>
                <c:pt idx="6">
                  <c:v>Senior AI
Engineer 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13</c:v>
                </c:pt>
                <c:pt idx="3">
                  <c:v>12</c:v>
                </c:pt>
                <c:pt idx="4">
                  <c:v>10</c:v>
                </c:pt>
                <c:pt idx="5">
                  <c:v>10</c:v>
                </c:pt>
                <c:pt idx="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EB-439C-AA69-8CBDBCE23E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404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0F164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0F1640"/>
          </a:solidFill>
          <a:ln/>
        </p:spPr>
      </p:sp>
      <p:pic>
        <p:nvPicPr>
          <p:cNvPr id="4" name="Image 0" descr="icons/brain_5B6E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·  INTELLIGENT CANDIDATE DISCOVERY &amp; RANKING CHALLENGE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Redrob Candidate Ranker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rule-based + semantic system that ranks candidates the way a great recruiter would — by understanding career history, skills, and behavior, not by matching keywords.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21208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0F1640"/>
          </a:solidFill>
          <a:ln w="12700">
            <a:solidFill>
              <a:srgbClr val="33407A"/>
            </a:solidFill>
            <a:prstDash val="solid"/>
          </a:ln>
        </p:spPr>
      </p:sp>
      <p:pic>
        <p:nvPicPr>
          <p:cNvPr id="9" name="Image 1" descr="icons/users_CADC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3538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5212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candidates ranked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83280" y="5212080"/>
            <a:ext cx="2935224" cy="502920"/>
          </a:xfrm>
          <a:prstGeom prst="roundRect">
            <a:avLst>
              <a:gd name="adj" fmla="val 18182"/>
            </a:avLst>
          </a:prstGeom>
          <a:solidFill>
            <a:srgbClr val="0F1640"/>
          </a:solidFill>
          <a:ln w="12700">
            <a:solidFill>
              <a:srgbClr val="33407A"/>
            </a:solidFill>
            <a:prstDash val="solid"/>
          </a:ln>
        </p:spPr>
      </p:sp>
      <p:pic>
        <p:nvPicPr>
          <p:cNvPr id="12" name="Image 2" descr="icons/bolt_CADC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53538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40480" y="52120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 min · CPU-only · no network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547104" y="5212080"/>
            <a:ext cx="2766974" cy="502920"/>
          </a:xfrm>
          <a:prstGeom prst="roundRect">
            <a:avLst>
              <a:gd name="adj" fmla="val 18182"/>
            </a:avLst>
          </a:prstGeom>
          <a:solidFill>
            <a:srgbClr val="0F1640"/>
          </a:solidFill>
          <a:ln w="12700">
            <a:solidFill>
              <a:srgbClr val="33407A"/>
            </a:solidFill>
            <a:prstDash val="solid"/>
          </a:ln>
        </p:spPr>
      </p:sp>
      <p:pic>
        <p:nvPicPr>
          <p:cNvPr id="15" name="Image 3" descr="icons/shield_CADC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535381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04304" y="5212080"/>
            <a:ext cx="2264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honeypots in final top-100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Deck  ·  Team: </a:t>
            </a:r>
            <a:r>
              <a:rPr lang="en-US" sz="1100" dirty="0" err="1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Not_Exist</a:t>
            </a:r>
            <a:r>
              <a:rPr lang="en-US" sz="110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filters can't see what actually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icons/fingerpri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299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38528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right answer is not 'find candidates whose skills section contains the most AI keywords.' </a:t>
            </a: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a trap we've explicitly built into the dataset.”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876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job_description.docx, final note to hackathon participants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79476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4F6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4114800"/>
            <a:ext cx="548640" cy="548640"/>
          </a:xfrm>
          <a:prstGeom prst="ellipse">
            <a:avLst/>
          </a:prstGeom>
          <a:solidFill>
            <a:srgbClr val="B23B3B"/>
          </a:solidFill>
          <a:ln/>
        </p:spPr>
      </p:sp>
      <p:pic>
        <p:nvPicPr>
          <p:cNvPr id="10" name="Image 1" descr="icons/ba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2428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40965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candidate that fails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60120" y="48920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“Marketing Manager.” Skills list: RAG, Pinecone, LangChain — each claimed with 1 month of use and no corroborating evidence. All keyword, no substance.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379476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4F6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37960" y="411480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15" name="Image 2" descr="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42428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40965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candidate that wins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37960" y="48920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“Data Engineer.” Career history shows years building a production recommendation system at a product company — never says “RAG.” Substance, no keyword.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streaming pass, three layers, three guardrails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828800" cy="416052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pic>
        <p:nvPicPr>
          <p:cNvPr id="5" name="Image 0" descr="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.jsonl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2461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records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streamed, never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loaded into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42032" y="3703320"/>
            <a:ext cx="365760" cy="274320"/>
          </a:xfrm>
          <a:prstGeom prst="rightArrow">
            <a:avLst/>
          </a:prstGeom>
          <a:solidFill>
            <a:srgbClr val="7C88A8"/>
          </a:solidFill>
          <a:ln/>
        </p:spPr>
      </p:sp>
      <p:sp>
        <p:nvSpPr>
          <p:cNvPr id="9" name="Text 6"/>
          <p:cNvSpPr/>
          <p:nvPr/>
        </p:nvSpPr>
        <p:spPr>
          <a:xfrm>
            <a:off x="3063240" y="17830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JD-grounded feature scores  (features.py / semantic.py)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63240" y="2194560"/>
            <a:ext cx="1938528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1" name="Text 8"/>
          <p:cNvSpPr/>
          <p:nvPr/>
        </p:nvSpPr>
        <p:spPr>
          <a:xfrm>
            <a:off x="3172968" y="2267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tier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172968" y="2615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0.28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138928" y="2194560"/>
            <a:ext cx="1938528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/>
          <p:nvPr/>
        </p:nvSpPr>
        <p:spPr>
          <a:xfrm>
            <a:off x="5248656" y="2267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skills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248656" y="2615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0.25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214616" y="2194560"/>
            <a:ext cx="1938528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7" name="Text 14"/>
          <p:cNvSpPr/>
          <p:nvPr/>
        </p:nvSpPr>
        <p:spPr>
          <a:xfrm>
            <a:off x="7324344" y="2267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24344" y="2615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0.22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063240" y="3044952"/>
            <a:ext cx="1938528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0" name="Text 17"/>
          <p:cNvSpPr/>
          <p:nvPr/>
        </p:nvSpPr>
        <p:spPr>
          <a:xfrm>
            <a:off x="3172968" y="3118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band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172968" y="3465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0.10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138928" y="3044952"/>
            <a:ext cx="1938528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3" name="Text 20"/>
          <p:cNvSpPr/>
          <p:nvPr/>
        </p:nvSpPr>
        <p:spPr>
          <a:xfrm>
            <a:off x="5248656" y="3118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248656" y="3465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0.09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214616" y="3044952"/>
            <a:ext cx="1938528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Text 23"/>
          <p:cNvSpPr/>
          <p:nvPr/>
        </p:nvSpPr>
        <p:spPr>
          <a:xfrm>
            <a:off x="7324344" y="3118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324344" y="3465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0.03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063240" y="3895344"/>
            <a:ext cx="1938528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9" name="Text 26"/>
          <p:cNvSpPr/>
          <p:nvPr/>
        </p:nvSpPr>
        <p:spPr>
          <a:xfrm>
            <a:off x="3172968" y="39684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172968" y="4315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0.03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006840" y="3703320"/>
            <a:ext cx="365760" cy="274320"/>
          </a:xfrm>
          <a:prstGeom prst="rightArrow">
            <a:avLst/>
          </a:prstGeom>
          <a:solidFill>
            <a:srgbClr val="7C88A8"/>
          </a:solidFill>
          <a:ln/>
        </p:spPr>
      </p:sp>
      <p:sp>
        <p:nvSpPr>
          <p:cNvPr id="32" name="Shape 29"/>
          <p:cNvSpPr/>
          <p:nvPr/>
        </p:nvSpPr>
        <p:spPr>
          <a:xfrm>
            <a:off x="9372600" y="1783080"/>
            <a:ext cx="2176272" cy="4160520"/>
          </a:xfrm>
          <a:prstGeom prst="roundRect">
            <a:avLst>
              <a:gd name="adj" fmla="val 3361"/>
            </a:avLst>
          </a:prstGeom>
          <a:solidFill>
            <a:srgbClr val="0F1640"/>
          </a:solidFill>
          <a:ln/>
        </p:spPr>
      </p:sp>
      <p:pic>
        <p:nvPicPr>
          <p:cNvPr id="33" name="Image 1" descr="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011680"/>
            <a:ext cx="457200" cy="4572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509760" y="2542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400" dirty="0"/>
          </a:p>
        </p:txBody>
      </p:sp>
      <p:pic>
        <p:nvPicPr>
          <p:cNvPr id="35" name="Image 2" descr="icons/warning_CADC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3063240"/>
            <a:ext cx="292608" cy="29260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930384" y="302666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disqualifier penalties</a:t>
            </a:r>
            <a:endParaRPr lang="en-US" sz="1000" dirty="0"/>
          </a:p>
        </p:txBody>
      </p:sp>
      <p:pic>
        <p:nvPicPr>
          <p:cNvPr id="37" name="Image 3" descr="icons/fingerprint_CADC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3721608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930384" y="36850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detection</a:t>
            </a:r>
            <a:endParaRPr lang="en-US" sz="1000" dirty="0"/>
          </a:p>
        </p:txBody>
      </p:sp>
      <p:pic>
        <p:nvPicPr>
          <p:cNvPr id="39" name="Image 4" descr="icons/userCheck_CADCF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4379976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930384" y="4343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multiplier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9509760" y="5212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→ top 100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diagram and rationale for every box: README.md “Architecture” section.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weight traces back to a specific line in the JD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icons/bullseye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00200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73568" y="15636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tier (0.28)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973568" y="18928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 weight — but a strong past title still earns partial credit even if the current title has drifted.</a:t>
            </a:r>
            <a:endParaRPr lang="en-US" sz="1050" dirty="0"/>
          </a:p>
        </p:txBody>
      </p:sp>
      <p:pic>
        <p:nvPicPr>
          <p:cNvPr id="8" name="Image 1" descr="icons/fingerprint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3017520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73568" y="29809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skills (0.25)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7973568" y="33101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a trust score, not a checklist — see next slide.</a:t>
            </a:r>
            <a:endParaRPr lang="en-US" sz="1050" dirty="0"/>
          </a:p>
        </p:txBody>
      </p:sp>
      <p:pic>
        <p:nvPicPr>
          <p:cNvPr id="11" name="Image 2" descr="icons/search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4434840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73568" y="43982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(0.22)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7973568" y="47274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TF-IDF+SVD cosine match to the JD's affirmative requirements only.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skill claim is only as credible as its evidence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= proficiency_base × duration_factor × (assessment-contradiction discount, if applicable)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9456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B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“RAG”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Proficiency: advanced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month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not taken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= 0.20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983480" y="196596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5257800" y="219456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E8A6E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57800" y="2697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“RAG”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Proficiency: advanced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36 months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78 / 100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5780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= 0.80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0" y="196596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1488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17×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281160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rare/core AI skills among genuinely AI-titled candidates vs. everyone else, measured across the real 100K pool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empirically: ML/AI-titled candidates average 3.95 rare core-stack skills (PyTorch, Elasticsearch, Weaviate, BM25...) vs. 0.23 for everyone else — confirming the dataset's keyword-stuffing trap is real and detectable.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trust score feeds must_have_skills (weight 0.25) and the nice-to-have bonus — see features.py: compute_skill_trust().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semantic matching, zero network dependency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 + SVD, not sentence-transformers / BGE / E5?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5852160" cy="17373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minutes wall-clock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16 GB 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only — no GPU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— no hosted model downloads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79476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 encoder needs vendored model weights (100s of MB) and torch — fragile to reproduce inside an unfamiliar sandboxed Docker container at Stage 3. TF-IDF+SVD needs only scikit-learn, has zero network dependency, and still produces genuine dense vectors matched by cosine similarity in a shared latent space — not literal keyword overlap.</a:t>
            </a:r>
            <a:endParaRPr lang="en-US" sz="1200" dirty="0"/>
          </a:p>
        </p:txBody>
      </p:sp>
      <p:sp>
        <p:nvSpPr>
          <p:cNvPr id="5" name="Shape 4"/>
          <p:cNvSpPr/>
          <p:nvPr/>
        </p:nvSpPr>
        <p:spPr>
          <a:xfrm>
            <a:off x="6903720" y="150876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7178040" y="16642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real 100,000-candidate pool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CPU core, ~4GB sandbox)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fit_transform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78408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78040" y="2542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features, 1-2 grams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78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784080" y="28712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78040" y="31272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components, 59% variance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178040" y="3456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784080" y="3456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78040" y="37124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vectorized, all 100K at once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03720" y="4023360"/>
            <a:ext cx="46634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pic>
        <p:nvPicPr>
          <p:cNvPr id="19" name="Image 0" descr="icons/warning_CADC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18795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516368" y="4160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negation problem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132320" y="455371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similarity can't tell “we want X” from “we do NOT want X.” So the JD query text used for similarity is built only from affirmative requirements — negative criteria (title-chasers, framework tutorials, consulting-only...) are handled exclusively as rule-based penalties, never folded into the similarity score.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profiles that are impossible on their own terms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internal-consistency checks (consistency.py) — a honeypot is flagged because it contradicts itself, not because it “looks suspicious.”</a:t>
            </a:r>
            <a:endParaRPr lang="en-US" sz="1300" dirty="0"/>
          </a:p>
        </p:txBody>
      </p:sp>
      <p:pic>
        <p:nvPicPr>
          <p:cNvPr id="5" name="Image 0" descr="icons/ban_B23B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933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965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years_of_experience vs. summed career_history duration differ by 2+ years</a:t>
            </a:r>
            <a:endParaRPr lang="en-US" sz="1150" dirty="0"/>
          </a:p>
        </p:txBody>
      </p:sp>
      <p:pic>
        <p:nvPicPr>
          <p:cNvPr id="7" name="Image 1" descr="icons/ban_B23B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23744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4963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“Expert” proficiency claimed with ≤1 month of skill duration</a:t>
            </a:r>
            <a:endParaRPr lang="en-US" sz="1150" dirty="0"/>
          </a:p>
        </p:txBody>
      </p:sp>
      <p:pic>
        <p:nvPicPr>
          <p:cNvPr id="9" name="Image 2" descr="icons/ban_B23B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540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0266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career_history entry marked is_current</a:t>
            </a:r>
            <a:endParaRPr lang="en-US" sz="1150" dirty="0"/>
          </a:p>
        </p:txBody>
      </p:sp>
      <p:pic>
        <p:nvPicPr>
          <p:cNvPr id="11" name="Image 3" descr="icons/ban_B23B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8444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355701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employment date ranges</a:t>
            </a:r>
            <a:endParaRPr lang="en-US" sz="1150" dirty="0"/>
          </a:p>
        </p:txBody>
      </p:sp>
      <p:pic>
        <p:nvPicPr>
          <p:cNvPr id="13" name="Image 4" descr="icons/ban_B23B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0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40873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end_year earlier than start_year</a:t>
            </a:r>
            <a:endParaRPr lang="en-US" sz="1150" dirty="0"/>
          </a:p>
        </p:txBody>
      </p:sp>
      <p:sp>
        <p:nvSpPr>
          <p:cNvPr id="15" name="Shape 8"/>
          <p:cNvSpPr/>
          <p:nvPr/>
        </p:nvSpPr>
        <p:spPr>
          <a:xfrm>
            <a:off x="6492240" y="1965960"/>
            <a:ext cx="5074920" cy="269748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</p:sp>
      <p:sp>
        <p:nvSpPr>
          <p:cNvPr id="16" name="Text 9"/>
          <p:cNvSpPr/>
          <p:nvPr/>
        </p:nvSpPr>
        <p:spPr>
          <a:xfrm>
            <a:off x="672084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FROM THE DATASET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672084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“Senior Applied Scientist” at Meta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6720840" y="2852928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</a:t>
            </a:r>
            <a:r>
              <a:rPr lang="en-US" sz="120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 years</a:t>
            </a: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experience.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 sums to only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~8.2 years</a:t>
            </a: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in the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</a:t>
            </a: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raw semantic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alone — mentions BGE, FAISS,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NDCG/MRR, A/B testing. A pure semantic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keyword system would surface it.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40080" y="49834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20" name="Text 13"/>
          <p:cNvSpPr/>
          <p:nvPr/>
        </p:nvSpPr>
        <p:spPr>
          <a:xfrm>
            <a:off x="86868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800" dirty="0"/>
          </a:p>
        </p:txBody>
      </p:sp>
      <p:sp>
        <p:nvSpPr>
          <p:cNvPr id="21" name="Text 14"/>
          <p:cNvSpPr/>
          <p:nvPr/>
        </p:nvSpPr>
        <p:spPr>
          <a:xfrm>
            <a:off x="868680" y="5623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scanned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389120" y="49834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23" name="Text 16"/>
          <p:cNvSpPr/>
          <p:nvPr/>
        </p:nvSpPr>
        <p:spPr>
          <a:xfrm>
            <a:off x="461772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2800" dirty="0"/>
          </a:p>
        </p:txBody>
      </p:sp>
      <p:sp>
        <p:nvSpPr>
          <p:cNvPr id="24" name="Text 17"/>
          <p:cNvSpPr/>
          <p:nvPr/>
        </p:nvSpPr>
        <p:spPr>
          <a:xfrm>
            <a:off x="4617720" y="5623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detected (0.07%)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138160" y="49834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26" name="Text 19"/>
          <p:cNvSpPr/>
          <p:nvPr/>
        </p:nvSpPr>
        <p:spPr>
          <a:xfrm>
            <a:off x="836676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27" name="Text 20"/>
          <p:cNvSpPr/>
          <p:nvPr/>
        </p:nvSpPr>
        <p:spPr>
          <a:xfrm>
            <a:off x="8366760" y="5623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final top-100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do NOT want” becomes a penalty, not a wall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JD's tone is guidance, not an absolute bar (“we will probably not move forward”) — so every disqualifier is a multiplier, applied alongside an honest note in the candidate's reasoning text, not a hard rejection.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58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Consulting-only career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225856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22585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TCS/Infosys/Wipro-only, entire career — current role at one is fine if prior product-company experience exists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58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LLM-wrapper pivot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95160" y="225856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2585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experience concentrated in &lt;12mo, no pre-LLM-era production depth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38160" y="214884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58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CV/speech-only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744200" y="225856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744200" y="22585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concentrated in vision/speech with zero NLP/IR overlap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13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Title-chasing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46120" y="381304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38130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206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employers, &lt;18mo avg tenure, reaching a senior title quickly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0" y="370332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813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Pure-research-only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95160" y="381304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38130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4206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Research-flavored title, no production-deployment language found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38160" y="370332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813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Closed-source-only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744200" y="381304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/>
        </p:spPr>
      </p:sp>
      <p:sp>
        <p:nvSpPr>
          <p:cNvPr id="33" name="Text 31"/>
          <p:cNvSpPr/>
          <p:nvPr/>
        </p:nvSpPr>
        <p:spPr>
          <a:xfrm>
            <a:off x="10744200" y="38130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4206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years, no GitHub activity, no certifications — softest penalty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Qualified isn't the same as reachable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perfect-on-paper candidate who hasn't logged in for 6 months and has a 5% recruiter response rate is, for hiring purposes, not actually available. </a:t>
            </a:r>
            <a:r>
              <a:rPr lang="en-US" sz="1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Down-weight them appropriately.”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822960" cy="566928"/>
          </a:xfrm>
          <a:prstGeom prst="roundRect">
            <a:avLst>
              <a:gd name="adj" fmla="val 9677"/>
            </a:avLst>
          </a:prstGeom>
          <a:solidFill>
            <a:srgbClr val="5B6E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724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/ intent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4592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last_active_date (45-day half-life decay) + open_to_work_flag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456432"/>
            <a:ext cx="822960" cy="566928"/>
          </a:xfrm>
          <a:prstGeom prst="roundRect">
            <a:avLst>
              <a:gd name="adj" fmla="val 9677"/>
            </a:avLst>
          </a:prstGeom>
          <a:solidFill>
            <a:srgbClr val="5B6EE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5643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438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45920" y="3730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recruiter_response_rate + avg_response_time + interview_completion_rate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169664"/>
            <a:ext cx="822960" cy="566928"/>
          </a:xfrm>
          <a:prstGeom prst="roundRect">
            <a:avLst>
              <a:gd name="adj" fmla="val 9677"/>
            </a:avLst>
          </a:prstGeom>
          <a:solidFill>
            <a:srgbClr val="5B6EE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966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/ verification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45920" y="44439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verified_email/phone, linkedin_connected, offer_acceptance_rate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882896"/>
            <a:ext cx="822960" cy="566928"/>
          </a:xfrm>
          <a:prstGeom prst="roundRect">
            <a:avLst>
              <a:gd name="adj" fmla="val 9677"/>
            </a:avLst>
          </a:prstGeom>
          <a:solidFill>
            <a:srgbClr val="5B6EE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828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4864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645920" y="51572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sub-30-day strongest, falls off smoothly past 180 days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18120" y="274320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2907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multiplier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0" y="3246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bound it at all? Letting availability swing to 0 would let pure activity noise override genuine skills mismatch — exactly what the JD's systems-thinking framing warns against.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4434840"/>
            <a:ext cx="3246120" cy="457200"/>
          </a:xfrm>
          <a:prstGeom prst="rect">
            <a:avLst/>
          </a:prstGeom>
          <a:solidFill>
            <a:srgbClr val="5B6EE8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4937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0.55×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378440" y="4937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1.05×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5193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21240" y="5193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composite score,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5B6EE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base_fit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577840" y="18105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(component score × weight) across all 7 JD-grounded components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86384" y="2441448"/>
            <a:ext cx="210312" cy="201168"/>
          </a:xfrm>
          <a:prstGeom prst="downArrow">
            <a:avLst/>
          </a:prstGeom>
          <a:solidFill>
            <a:srgbClr val="7C88A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0F1640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87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disqualifier_multiplier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77840" y="25877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JD's “things we do NOT want” — soft penalty, 0.30×-0.85×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6384" y="3218688"/>
            <a:ext cx="210312" cy="201168"/>
          </a:xfrm>
          <a:prstGeom prst="downArrow">
            <a:avLst/>
          </a:prstGeom>
          <a:solidFill>
            <a:srgbClr val="7C88A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0F1640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364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honeypot_multiplier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77840" y="33649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0.02× if internally impossible, else 1.0×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" y="3995928"/>
            <a:ext cx="210312" cy="201168"/>
          </a:xfrm>
          <a:prstGeom prst="downArrow">
            <a:avLst/>
          </a:prstGeom>
          <a:solidFill>
            <a:srgbClr val="7C88A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0F1640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1422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behavioral_multiplier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77840" y="414223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0.55×-1.05× availability adjustment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0F1640"/>
          </a:solidFill>
          <a:ln w="15875">
            <a:solidFill>
              <a:srgbClr val="5B6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final_score  =  base_fit  ×  disqualifier_mult  ×  honeypot_mult  ×  behavioral_mult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descending; ties broken by candidate_id ascending (deterministic, matches submission_spec.docx section 3).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actually found in the 100K pool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scored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38144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3621024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1,179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21024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AI/ML-titled (1.2%)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6208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19088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final top-100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34272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9217152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/ 100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17152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JD's 5-9y band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distribution within the final top-100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40080" y="3429000"/>
          <a:ext cx="59436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903720" y="3429000"/>
            <a:ext cx="466344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distribution, top-100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13232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(best)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926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132320" y="4553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92640" y="45537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~0.86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32320" y="50840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100 (cutoff)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92640" y="50840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0.800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132320" y="56144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92640" y="56144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132320" y="6080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well-separated scores — not a flat “everyone gets 0.9” output (a common rejection reason per the spec).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actually reproduce at Stage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86537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190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135s cold / 31s warm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100K-candidate run, single CPU core, ~4GB sandbox — budget is 5 minutes (300s)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89120" y="15544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serv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8653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7190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not load-all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holds all 100K raw candidate dicts in memory at once — well under 16GB on any machine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ba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86537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7190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calls in rank.py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hosted API calls, no GPU — a small ranker over precomputed/streamed features, as the spec asks for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40080" y="34290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630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37398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593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passing tests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4297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detection, skill trust, disqualifiers, behavioral multiplier, full end-to-end pipeline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89120" y="34290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3630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sitemap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37398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593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4297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rank.py --candidates ./data/candidates.jsonl --out ./submission.csv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38160" y="34290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3630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shiel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373989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593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Validator: PASS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66760" y="4297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validate_submission.py confirms format, rank/score monotonicity, and tie-break ordering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made deliberate compromises</a:t>
            </a:r>
            <a:endParaRPr lang="en-US" sz="2800" dirty="0"/>
          </a:p>
        </p:txBody>
      </p:sp>
      <p:pic>
        <p:nvPicPr>
          <p:cNvPr id="4" name="Image 0" descr="icons/warning_C97A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Corpus-relative semantic layer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2075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TF-IDF+SVD is fit on this candidate pool plus the JD, not a universal pretrained embedding space. A different candidate pool re-fits the index rather than reusing pretrained weights — the explicit price paid for zero-network reproducibility.</a:t>
            </a:r>
            <a:endParaRPr lang="en-US" sz="1200" dirty="0"/>
          </a:p>
        </p:txBody>
      </p:sp>
      <p:pic>
        <p:nvPicPr>
          <p:cNvPr id="7" name="Image 1" descr="icons/warning_C97A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063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heuristics for two disqualifiers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88720" y="34472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“Pure research environment” and “title-chasing” aren't explicitly labeled in the data. Both rely on text/tenure-pattern proxies, deliberately tuned conservative (low false-positive rate) over aggressive.</a:t>
            </a:r>
            <a:endParaRPr lang="en-US" sz="1200" dirty="0"/>
          </a:p>
        </p:txBody>
      </p:sp>
      <p:pic>
        <p:nvPicPr>
          <p:cNvPr id="10" name="Image 2" descr="icons/warning_C97A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8056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434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detection has a coverage gap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88720" y="48188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the industry field (“IT Services” / “Consulting”) plus the JD's named company list. A consulting firm tagged with neither would not be caught.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0080" y="58521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4" name="Text 9"/>
          <p:cNvSpPr/>
          <p:nvPr/>
        </p:nvSpPr>
        <p:spPr>
          <a:xfrm>
            <a:off x="914400" y="5852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rather name these tradeoffs explicitly than have them discovered at Stage 5 — every one of them traces to a specific design decision documented in the codebase's comments.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0F164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0F1640"/>
          </a:solidFill>
          <a:ln/>
        </p:spPr>
      </p:sp>
      <p:pic>
        <p:nvPicPr>
          <p:cNvPr id="4" name="Image 0" descr="icons/bra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5544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645920" y="338328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something real: a ranker that reasons about the gap between what a JD says and what it means.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92608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897880" y="4297680"/>
            <a:ext cx="385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https://github.com/Ashish-Rauthan/AI-Candidate-ranker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926080" y="4736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demo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97879" y="4736592"/>
            <a:ext cx="472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https://ai-candidate-ranker-j3dfssbymzuokn3unl9sjs.streamlit.app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926080" y="5175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97880" y="5175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Not_Exist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1767</Words>
  <Application>Microsoft Office PowerPoint</Application>
  <PresentationFormat>Widescreen</PresentationFormat>
  <Paragraphs>248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Candidate Ranker — Methodology</dc:title>
  <dc:subject>PptxGenJS Presentation</dc:subject>
  <dc:creator>Redrob Ranker Team</dc:creator>
  <cp:lastModifiedBy>Ashish Rauthan</cp:lastModifiedBy>
  <cp:revision>2</cp:revision>
  <dcterms:created xsi:type="dcterms:W3CDTF">2026-06-20T06:28:19Z</dcterms:created>
  <dcterms:modified xsi:type="dcterms:W3CDTF">2026-06-28T07:10:40Z</dcterms:modified>
</cp:coreProperties>
</file>